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Доли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7263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4213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3B4A6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6E7B9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Полина</c:v>
                </c:pt>
                <c:pt idx="1">
                  <c:v>Давид</c:v>
                </c:pt>
                <c:pt idx="2">
                  <c:v>Павел</c:v>
                </c:pt>
                <c:pt idx="3">
                  <c:v>Арсений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28</c:v>
                </c:pt>
                <c:pt idx="1">
                  <c:v>24</c:v>
                </c:pt>
                <c:pt idx="2">
                  <c:v>24</c:v>
                </c:pt>
                <c:pt idx="3">
                  <c:v>24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47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ООО «Мемори» · Практическое занятие №15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8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ЗАНЯТИЕ №15 · СТАРТАП В ИНФОРМАЦИОННЫХ ТЕХНОЛОГИЯХ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Юридическая модель стартапа Memoriee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Правовая форма, доли и управление, защита интеллектуальной собственности, соглашение основателей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Полина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230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генеральный директор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Давид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5230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Павел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5230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Арсений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5230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49640" y="1325880"/>
            <a:ext cx="3017520" cy="3017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32520" y="1508760"/>
            <a:ext cx="2651760" cy="2651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72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42248" y="1618488"/>
            <a:ext cx="2432304" cy="2432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263D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1801368"/>
            <a:ext cx="640080" cy="64008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73252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ООО «Мемори»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Memoriee LLC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 · ПРАВОВАЯ ФОРМА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ООО, а не ИП или АО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4980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097280"/>
                <a:gridCol w="1097280"/>
                <a:gridCol w="109728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ИП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ООО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Несколько основателей с долями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Ответственность только долей, не личным имуществом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Права на код и бренд — на компании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Можно привлечь инвестора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Сложность и стоимость содержания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Низкая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Подходит команде из 4 человек на старте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Избыточно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737360"/>
            <a:ext cx="3200400" cy="3712464"/>
          </a:xfrm>
          <a:prstGeom prst="roundRect">
            <a:avLst>
              <a:gd name="adj" fmla="val 228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8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23317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ООО «Мемори»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301752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 четверо, у каждого своя доля, рискуем только вкладом, а продукт и бренд принадлежат компании. Для договоров с круизными компаниями и выхода в Саудовскую Аравию нужна понятная структура с долями.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 · ПРАВОВАЯ ФОРМА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параметры ООО «Мемори»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39112"/>
            <a:ext cx="603504" cy="60350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151" y="2196023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1901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572768" y="224028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ООО «Мемори»; в уставе — английское Memoriee LLC для зарубежных договоров. Бренд и товарный знак — Memoriee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2039112"/>
            <a:ext cx="603504" cy="60350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711" y="219602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96328" y="1901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Уставный капитал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196328" y="224028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₽ — минимум по закону. Деньги остаются на счёте компании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410712"/>
            <a:ext cx="603504" cy="603504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51" y="356762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72768" y="3273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Юридический адрес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572768" y="361188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кабинет 15–17 м² на 4 места, ≈ 20 тыс. ₽ в месяц, по договору аренды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10896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3410712"/>
            <a:ext cx="603504" cy="60350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711" y="3567623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96328" y="3273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196328" y="361188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 или через банк — бесплатно (на бумаге 4 000 ₽); сразу открываем расчётный счёт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48056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7240" y="4782312"/>
            <a:ext cx="603504" cy="60350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151" y="4939223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72768" y="46451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Налоги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572768" y="498348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УСН «доходы» 6%. IT-аккредитация позже: для неё нужно ≥ 7 сотрудников в штате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172200" y="448056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0800" y="4782312"/>
            <a:ext cx="603504" cy="60350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7711" y="4939223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96328" y="46451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Бухгалтерия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7196328" y="498348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Ведём сами в онлайн-сервисе (≈ 15–25 тыс. ₽ в год), отвечает генеральный директор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Mail.ru Финансы (госпошлина 2026); Циан (аренда офиса, 2026); Vitvet (требования IT-аккредитации, 06.2026).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 · ДОЛИ И УПРАВЛЕНИЕ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Доли участников и распределение ролей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60020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737360"/>
          <a:ext cx="67665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777240"/>
                <a:gridCol w="1005840"/>
                <a:gridCol w="384048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Участник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Вклад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 и зона ответственности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Полина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2 800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Генеральный директор: финансы, договоры, бухгалтерия, продукт, партнёры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Давид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2 400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Бэкенд: серверы, база данных, защита данных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Павел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2 400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Фронтенд: веб-версия, интерфейс, арабская версия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Арсений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2 400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Разработка: мобильная версия, офлайн-режим, тестирование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Наём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Специалист по продвижению (самозанятый): соцсети, реклама, контент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846320" y="5715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Уставный капитал 10 000 ₽ · доли целые, без резервов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 · ДОЛИ И УПРАВЛЕНИЕ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принимаем решения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548640" cy="5486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2035454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Голоса 2 на 2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81328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Сторона директора: 28% + 24% = 52%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182880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принимается — при равенстве решает генеральный директор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2898648"/>
            <a:ext cx="548640" cy="5486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304129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81328" y="2852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Трое против директора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81328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× 3 = 72%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480560" y="283464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обычных вопросах проходит — директор не диктует в одиночку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74904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" y="3904488"/>
            <a:ext cx="548640" cy="5486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4047134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81328" y="3858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Важный вопрос с директором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481328" y="4206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+ двое = 76% ≥ 75%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480560" y="384048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Проходит: новый участник, продажа долей, крупные траты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75488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4910328"/>
            <a:ext cx="548640" cy="54864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5052974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81328" y="48646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Важный вопрос без директора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481328" y="5212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Трое = 72% &lt; 75%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4480560" y="484632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проходит — ключевые решения только с участием директора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549640" y="1737360"/>
            <a:ext cx="3063240" cy="3886200"/>
          </a:xfrm>
          <a:prstGeom prst="roundRect">
            <a:avLst>
              <a:gd name="adj" fmla="val 238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77824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в уставе и соглашении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8778240" y="265176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Обычные вопросы — больше 50% голосов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Важные вопросы — не меньше 75%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Реорганизация и др. — единогласно, по закону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Рабочие вопросы команды: 1 человек — 1 голос, при 2 на 2 решает директор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из ООО без продажи доли запрещён уставом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Голоса в ООО считаются пропорционально долям участников (ФЗ «Об ООО»), если устав не устанавливает иное.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 · УПРАВЛЕНИЕ И ОТВЕТСТВЕННОСТЬ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Генеральный директор: договор и стоимость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498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25603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месяц, 2026 год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Полставки (запуск)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Полная ставка (после окупаемости)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Зарплата до вычета НДФЛ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13 547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27 093 ₽ (МРОТ)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Полина получает на руки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11 786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23 571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Страховые взносы 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8 128 ₽ — от полного МРОТ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8 128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Расходы компании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21 702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35 275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 6 месяцев запуска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130 тыс.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212 тыс.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737360"/>
            <a:ext cx="3246120" cy="3401568"/>
          </a:xfrm>
          <a:prstGeom prst="roundRect">
            <a:avLst>
              <a:gd name="adj" fmla="val 2254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Наше решение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233172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запуске генеральный директор работает на полставки, на полную ставку переходит, когда вложения окупятся (по модели — осень 2027). Экономия ≈ 81 тыс. ₽ в самый тяжёлый период — и всё по закону.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4E8F1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3492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Ответственность: </a:t>
            </a:r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участники рискуют только своей долей; директор отвечает лично за убытки по своей вине и может нести субсидиарную ответственность при банкротстве. С 2026 года взносы за директора — не меньше чем с МРОТ, даже на неполной ставке.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Минцифры (МРОТ 2026 — 27 093 ₽); Спмаг, «Страховые взносы за директора с МРОТ в 2026 году». Взносы на травматизм ≈ 0,2% учтены в итоге.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2 · ИНТЕЛЛЕКТУАЛЬНАЯ СОБСТВЕННОСТЬ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Все права на продукт — у ООО «Мемори»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9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16052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9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 сейчас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9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переходит к ООО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21408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бэкенда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16052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Давид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011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 об отчуждении исключительного права на ООО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7004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25880" y="2560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фронтенда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16052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Павел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2560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 об отчуждении исключительного права на ООО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1089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1868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25880" y="3108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Мобильная версия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160520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Арсений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3108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 об отчуждении исключительного права на ООО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6732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657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и логотип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160520" y="3657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Полина, дизайнер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492240" y="3657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Отчуждение прав; с фрилансером — подряд с передачей прав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2062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315968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25880" y="4206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для продвижения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160520" y="4206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Специалист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492240" y="4206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 с передачей прав на тексты, фото и видео</a:t>
            </a:r>
            <a:endParaRPr lang="en-US" sz="12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864608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32588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Memoriee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4160520" y="4754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6492240" y="4754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Товарный знак в классах 09 и 42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548640" y="53035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413248"/>
            <a:ext cx="292608" cy="29260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325880" y="5303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160520" y="5303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6492240" y="5303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Регистрируем на ООО, а не на физлицо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Патент не нужен: программа в России охраняется авторским правом, оно возникает автоматически. Важно лишь, чтобы права были оформлены на компанию.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2 · ИНТЕЛЛЕКТУАЛЬНАЯ СОБСТВЕННОСТЬ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Документы на старте: что, когда и сколько стоит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2743200"/>
                <a:gridCol w="274320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Документ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Стоимость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Соглашение основателей (корпоративный договор)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Сразу после регистрации ООО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₽ (нотариус не нужен)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договора об отчуждении прав на код и дизайн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Первый месяц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Символическая цена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Договоры подряда с фрилансерами + соглашения о неразглашении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начала работ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Политика персональных данных, согласия, уведомление в Роскомнадзор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запуска продаж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Юрист ≈ 50 тыс. ₽; уведомление бесплатно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Заявка на товарный знак Memoriee (классы 09, 42)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старта рекламы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24 тыс. ₽ пошлин, 8–12 месяцев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Свидетельство на программу в Роспатенте (по желанию)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 релиза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Товарный знак в Саудовской Аравии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Перед выходом на рынок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тарифам местного ведомства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Vitvet (пошлины за товарный знак 2026, электронная подача); V2B (пошлина за регистрацию программы для ЭВМ с 2025); H-cons (цены на документы по 152-ФЗ).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3 · ТИПОВОЙ ДОГОВОР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Соглашение основателей: ключевые пункты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Стороны и цель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участника развивают сервис Memoriee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Вклады и роли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Полина — управление; Давид — бэкенд; Павел — фронтенд; Арсений — мобильная версия и тесты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Доли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832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/ 24% / 24% / 24%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Решения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1148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50% — обычные, 75% — важные; при 2 на 2 решает директор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72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Вестинг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463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«зарабатывается» 4 года, первая четверть — через год; при раннем уходе остаток продаётся по номиналу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03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Выход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5778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Уважительная причина — выкуп по рыночной цене, нарушение — по номиналу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Интеллектуальная собственность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9202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созданное для проекта принадлежит ООО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2377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Неразглашение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6517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Код, финансы, планы — бессрочно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108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Запрет конкуренции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3832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года после выхода — без похожего сервиса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840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Прибыль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41148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Реинвестируем до выручки 15 млн ₽ в год, затем делим по долям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4572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Новые участники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48463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при 75% голосов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5303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Споры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55778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Переговоры → ментор как посредник → суд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Оформляется как корпоративный договор участников ООО (ст. 67.2 ГК РФ); нотариальное удостоверение не требуется.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Типичные ошибки — и как мы их закрыли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92808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7373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и бренд записаны на основателей, а не на компанию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92808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83680" y="17373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Договоры об отчуждении прав и товарный знак на ООО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4231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7860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24231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Доли 25/25/25/25 — тупик при голосовании 2 на 2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578608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583680" y="24231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28/24/24/24: при равенстве решает генеральный директор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548640" y="31089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64408"/>
            <a:ext cx="256032" cy="25603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43000" y="31089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Основатель уходит и уносит долю</a:t>
            </a:r>
            <a:endParaRPr lang="en-US" sz="13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264408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583680" y="31089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Вестинг 4 года и выкуп доли по правилам соглашения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548640" y="37947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950208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143000" y="37947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«Массовый» юрадрес, который не примет налоговая</a:t>
            </a:r>
            <a:endParaRPr lang="en-US" sz="13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950208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6583680" y="37947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Собственный кабинет по договору аренды</a:t>
            </a:r>
            <a:endParaRPr lang="en-US" sz="1300" dirty="0"/>
          </a:p>
        </p:txBody>
      </p:sp>
      <p:sp>
        <p:nvSpPr>
          <p:cNvPr id="24" name="Shape 14"/>
          <p:cNvSpPr/>
          <p:nvPr/>
        </p:nvSpPr>
        <p:spPr>
          <a:xfrm>
            <a:off x="548640" y="4480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4636008"/>
            <a:ext cx="256032" cy="256032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1143000" y="44805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пользователей без согласий</a:t>
            </a:r>
            <a:endParaRPr lang="en-US" sz="13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4636008"/>
            <a:ext cx="256032" cy="256032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6583680" y="44805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Политика ПДн, согласия, уведомление в Роскомнадзор</a:t>
            </a:r>
            <a:endParaRPr lang="en-US" sz="1300" dirty="0"/>
          </a:p>
        </p:txBody>
      </p:sp>
      <p:sp>
        <p:nvSpPr>
          <p:cNvPr id="29" name="Shape 17"/>
          <p:cNvSpPr/>
          <p:nvPr/>
        </p:nvSpPr>
        <p:spPr>
          <a:xfrm>
            <a:off x="548640" y="51663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5321808"/>
            <a:ext cx="256032" cy="256032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1143000" y="51663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без зарплаты — штрафы и доначисления</a:t>
            </a:r>
            <a:endParaRPr lang="en-US" sz="13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2200" y="5321808"/>
            <a:ext cx="256032" cy="256032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6583680" y="51663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Трудовой договор на полставки, затем полная ставка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ООО «Мемори» — юридическая модель стартапа</dc:title>
  <dc:subject>PptxGenJS Presentation</dc:subject>
  <dc:creator>PptxGenJS</dc:creator>
  <cp:lastModifiedBy>PptxGenJS</cp:lastModifiedBy>
  <cp:revision>1</cp:revision>
  <dcterms:created xsi:type="dcterms:W3CDTF">2026-10-20T11:37:57Z</dcterms:created>
  <dcterms:modified xsi:type="dcterms:W3CDTF">2026-10-20T11:37:57Z</dcterms:modified>
</cp:coreProperties>
</file>